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Poppins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  <p:embeddedFont>
      <p:font typeface="Poppins SemiBold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797C7E5-CD8E-47DA-8027-4218B8BD215D}">
  <a:tblStyle styleId="{1797C7E5-CD8E-47DA-8027-4218B8BD215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oppins-bold.fntdata"/><Relationship Id="rId21" Type="http://schemas.openxmlformats.org/officeDocument/2006/relationships/font" Target="fonts/Poppins-regular.fntdata"/><Relationship Id="rId24" Type="http://schemas.openxmlformats.org/officeDocument/2006/relationships/font" Target="fonts/Poppins-boldItalic.fntdata"/><Relationship Id="rId23" Type="http://schemas.openxmlformats.org/officeDocument/2006/relationships/font" Target="fonts/Poppi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SemiBold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SemiBold-italic.fntdata"/><Relationship Id="rId30" Type="http://schemas.openxmlformats.org/officeDocument/2006/relationships/font" Target="fonts/PoppinsSemiBold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PoppinsSemiBold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510da31b2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510da31b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f510da31b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f510da31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28.png"/><Relationship Id="rId5" Type="http://schemas.openxmlformats.org/officeDocument/2006/relationships/image" Target="../media/image2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11" Type="http://schemas.openxmlformats.org/officeDocument/2006/relationships/image" Target="../media/image24.png"/><Relationship Id="rId10" Type="http://schemas.openxmlformats.org/officeDocument/2006/relationships/image" Target="../media/image26.png"/><Relationship Id="rId12" Type="http://schemas.openxmlformats.org/officeDocument/2006/relationships/image" Target="../media/image5.png"/><Relationship Id="rId9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7.png"/><Relationship Id="rId8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23.png"/><Relationship Id="rId7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11" Type="http://schemas.openxmlformats.org/officeDocument/2006/relationships/image" Target="../media/image22.png"/><Relationship Id="rId10" Type="http://schemas.openxmlformats.org/officeDocument/2006/relationships/image" Target="../media/image18.png"/><Relationship Id="rId12" Type="http://schemas.openxmlformats.org/officeDocument/2006/relationships/image" Target="../media/image16.png"/><Relationship Id="rId9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7.png"/><Relationship Id="rId8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889900" y="1243225"/>
            <a:ext cx="10621500" cy="46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chemeClr val="lt1"/>
                </a:solidFill>
                <a:highlight>
                  <a:srgbClr val="000000"/>
                </a:highlight>
                <a:latin typeface="Georgia"/>
                <a:ea typeface="Georgia"/>
                <a:cs typeface="Georgia"/>
                <a:sym typeface="Georgia"/>
              </a:rPr>
              <a:t>E-learning Website Auditing and Digital Marketing Implementation</a:t>
            </a:r>
            <a:endParaRPr b="1" sz="5000">
              <a:solidFill>
                <a:schemeClr val="lt1"/>
              </a:solidFill>
              <a:highlight>
                <a:srgbClr val="000000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r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chemeClr val="lt1"/>
              </a:solidFill>
              <a:highlight>
                <a:srgbClr val="000000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chemeClr val="lt1"/>
              </a:solidFill>
              <a:highlight>
                <a:srgbClr val="000000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chemeClr val="lt1"/>
                </a:solidFill>
                <a:highlight>
                  <a:srgbClr val="000000"/>
                </a:highlight>
                <a:latin typeface="Georgia"/>
                <a:ea typeface="Georgia"/>
                <a:cs typeface="Georgia"/>
                <a:sym typeface="Georgia"/>
              </a:rPr>
              <a:t>By: Kavya Jain</a:t>
            </a:r>
            <a:endParaRPr sz="3300">
              <a:solidFill>
                <a:schemeClr val="lt1"/>
              </a:solidFill>
              <a:highlight>
                <a:srgbClr val="000000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9" name="Google Shape;8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4"/>
          <p:cNvSpPr txBox="1"/>
          <p:nvPr/>
        </p:nvSpPr>
        <p:spPr>
          <a:xfrm>
            <a:off x="1805463" y="2355502"/>
            <a:ext cx="8581072" cy="594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Strategic Digital Transformation</a:t>
            </a:r>
            <a:endParaRPr/>
          </a:p>
        </p:txBody>
      </p:sp>
      <p:sp>
        <p:nvSpPr>
          <p:cNvPr id="91" name="Google Shape;91;p14"/>
          <p:cNvSpPr txBox="1"/>
          <p:nvPr/>
        </p:nvSpPr>
        <p:spPr>
          <a:xfrm>
            <a:off x="2047875" y="3187898"/>
            <a:ext cx="8096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Comprehensive Analysis, Website Audit, Technical Redesign Strategy, and Multichannel Marketing Implementation for Elevate Learning.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1152525" y="4178498"/>
            <a:ext cx="9887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ntroduction page of elevate learning presentation made by kavya jain" id="93" name="Google Shape;9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313533"/>
            <a:ext cx="10648950" cy="3629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771525" y="1635472"/>
            <a:ext cx="106489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 expert audit evaluated </a:t>
            </a:r>
            <a:r>
              <a:rPr b="1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Elevate Learning</a:t>
            </a: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across multiple crucial digital performance indices. The overall benchmark score indicates reliable basic systems combined with significant optimization gaps in mobile rendering, modern search engine structure, and conversion channels.</a:t>
            </a:r>
            <a:endParaRPr/>
          </a:p>
        </p:txBody>
      </p:sp>
      <p:graphicFrame>
        <p:nvGraphicFramePr>
          <p:cNvPr id="101" name="Google Shape;101;p15"/>
          <p:cNvGraphicFramePr/>
          <p:nvPr/>
        </p:nvGraphicFramePr>
        <p:xfrm>
          <a:off x="781050" y="23230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{1797C7E5-CD8E-47DA-8027-4218B8BD215D}</a:tableStyleId>
              </a:tblPr>
              <a:tblGrid>
                <a:gridCol w="2783675"/>
                <a:gridCol w="1935200"/>
                <a:gridCol w="2697950"/>
                <a:gridCol w="3213050"/>
              </a:tblGrid>
              <a:tr h="451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Audited Performance Vector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Current Score (/100)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Operational Evaluation Status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Priority Tier for Strategic Intervention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451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Website Design &amp; Consistency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75 / 100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22C55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Good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Tier 3 — Secondary Visual Rebranding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1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User Experience (UX) Flow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72 / 100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22C55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Good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Tier 2 — Navigation Streamlining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51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Content Quality &amp; Scope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70 / 100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22C55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Good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Tier 3 — Pillar Hub &amp; Spoke Expansion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1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Mobile Optimization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68 / 100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EA580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Needs Improvement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Tier 1 — High Urgency Design Restructure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51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On-Page SEO Execution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65 / 100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EA580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Needs Improvement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Tier 1 — Indexation &amp; Keyword Mapping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1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Technical SEO &amp; Core Vitals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60 / 100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DC262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Needs Critical Support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Tier 1 — Performance &amp; Asset Compression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51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Conversion Rate Optimization (CRO)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58 / 100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DC262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Needs Critical Support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Tier 1 — Simplified Funnels &amp; Smart CTA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2" name="Google Shape;102;p15"/>
          <p:cNvSpPr/>
          <p:nvPr/>
        </p:nvSpPr>
        <p:spPr>
          <a:xfrm>
            <a:off x="781050" y="3242220"/>
            <a:ext cx="27836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3564731" y="3242220"/>
            <a:ext cx="19352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5499943" y="3242220"/>
            <a:ext cx="26979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8197899" y="3242220"/>
            <a:ext cx="32130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781050" y="3689895"/>
            <a:ext cx="27836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3564731" y="3689895"/>
            <a:ext cx="19352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5499943" y="3689895"/>
            <a:ext cx="26979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8197899" y="3689895"/>
            <a:ext cx="32130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781050" y="4137570"/>
            <a:ext cx="27836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3564731" y="4137570"/>
            <a:ext cx="19352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5499943" y="4137570"/>
            <a:ext cx="26979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8197899" y="4137570"/>
            <a:ext cx="32130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781050" y="4585245"/>
            <a:ext cx="27836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3564731" y="4585245"/>
            <a:ext cx="19352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5499943" y="4585245"/>
            <a:ext cx="26979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8197899" y="4585245"/>
            <a:ext cx="32130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781050" y="5032920"/>
            <a:ext cx="27836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3564731" y="5032920"/>
            <a:ext cx="19352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5499943" y="5032920"/>
            <a:ext cx="26979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8197899" y="5032920"/>
            <a:ext cx="32130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781050" y="5480595"/>
            <a:ext cx="27836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3564731" y="5480595"/>
            <a:ext cx="19352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5499943" y="5480595"/>
            <a:ext cx="26979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8197899" y="5480595"/>
            <a:ext cx="32130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914400" y="581025"/>
            <a:ext cx="11031378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Diagnostic Website Audit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771525" y="581025"/>
            <a:ext cx="47625" cy="434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132855"/>
            <a:ext cx="5181600" cy="33123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132855"/>
            <a:ext cx="5181600" cy="3312318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1066800" y="2428130"/>
            <a:ext cx="482060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User Experience (UX) Bottlenecks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1066800" y="2837705"/>
            <a:ext cx="45910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1066800" y="2971055"/>
            <a:ext cx="45910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Complex Navigation: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 current interface is cluttered with excessive course levels and menus, leading to high abandonment rates.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1066800" y="3572916"/>
            <a:ext cx="45910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Weak Homepage Structure: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Fails to clearly establish a distinct, instant value proposition. Primary action triggers are lost in surrounding visual noise.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1066800" y="4418558"/>
            <a:ext cx="45910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Cluttered Funnel Path: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Critical information, such as instructor background, learner testimonials, and curriculum data, is deeply buried or altogether absent.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6534150" y="2428130"/>
            <a:ext cx="482060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User Interface (UI) Bottlenecks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6534150" y="2837705"/>
            <a:ext cx="45910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6534150" y="2971055"/>
            <a:ext cx="45910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Visual Inconsistency: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Colors are implemented without unified branding parameters. Readability suffers due to uneven typographical hierarchy.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6534150" y="3816697"/>
            <a:ext cx="45910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Static Graphics: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Call-to-action triggers are visually generic and fail to stand out, lacking state transitions or visual weight.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6534150" y="4418558"/>
            <a:ext cx="45910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Form Complexity: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Enrollment and inquiry forms demand excessive data fields, reducing mobile user sign-ups and generating high friction.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914400" y="581025"/>
            <a:ext cx="11031378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Core UX &amp; UI Challenges</a:t>
            </a:r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771525" y="581025"/>
            <a:ext cx="47625" cy="434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771525" y="3007965"/>
            <a:ext cx="3659385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0" u="none" cap="none" strike="noStrike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68%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771525" y="4341465"/>
            <a:ext cx="365938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MOBILE OPTIMIZATION RATING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5316735" y="2776686"/>
            <a:ext cx="640892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The Necessity of a Mobile-First Restructure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5316735" y="3195786"/>
            <a:ext cx="6103739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Over 50% of targeted online learners discover and consume course content via mobile devices. Elevate Learning's current codebase suffers from unoptimized layouts, tiny click zones, uncompressed media files, and long, multi-step transaction pages.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5316735" y="4070002"/>
            <a:ext cx="6103739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To secure search engine visibility and improve user retention, the redesign must align with Google's strict </a:t>
            </a:r>
            <a:r>
              <a:rPr b="1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Core Web Vitals</a:t>
            </a: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standards: Largest Contentful Paint (LCP) under 2.5 seconds, First Input Delay (FID) under 100 milliseconds, and Cumulative Layout Shift (CLS) under 0.1.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914400" y="581025"/>
            <a:ext cx="11031378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Mobile Performance Gaps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771525" y="581025"/>
            <a:ext cx="47625" cy="434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22140"/>
            <a:ext cx="50863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771525" y="2339578"/>
            <a:ext cx="534066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Establishing an Indisputable USP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771525" y="2758678"/>
            <a:ext cx="50863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benchmark study against </a:t>
            </a:r>
            <a:r>
              <a:rPr b="1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Udemy, Coursera, and Skillshare</a:t>
            </a: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reveals clear market divisions. While Udemy commands volume and Coursera offers academic credibility, they struggle to provide end-to-end career guidance.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771525" y="3632894"/>
            <a:ext cx="508635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Elevate Learning Edge: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 redesign and positioning must highlight our unique career ecosystem. We offer high-quality certifications coupled with </a:t>
            </a:r>
            <a:r>
              <a:rPr b="1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live projects, professional mentors, resume building, and direct placement support</a:t>
            </a: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771525" y="4750891"/>
            <a:ext cx="50863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By shifting focus from passive video repositories to active career acceleration, we bypass direct pricing competition with volume providers.</a:t>
            </a:r>
            <a:endParaRPr/>
          </a:p>
        </p:txBody>
      </p:sp>
      <p:pic>
        <p:nvPicPr>
          <p:cNvPr id="169" name="Google Shape;169;p18"/>
          <p:cNvPicPr preferRelativeResize="0"/>
          <p:nvPr/>
        </p:nvPicPr>
        <p:blipFill rotWithShape="1">
          <a:blip r:embed="rId5">
            <a:alphaModFix/>
          </a:blip>
          <a:srcRect b="17289" l="0" r="0" t="17296"/>
          <a:stretch/>
        </p:blipFill>
        <p:spPr>
          <a:xfrm>
            <a:off x="6343650" y="2131665"/>
            <a:ext cx="506730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914400" y="581025"/>
            <a:ext cx="11031378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Competitor Landscape Analysis</a:t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771525" y="581025"/>
            <a:ext cx="47625" cy="434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498377"/>
            <a:ext cx="3397299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7424" y="2498377"/>
            <a:ext cx="3397299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23324" y="2498377"/>
            <a:ext cx="3397299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60537" y="2793652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9"/>
          <p:cNvSpPr txBox="1"/>
          <p:nvPr/>
        </p:nvSpPr>
        <p:spPr>
          <a:xfrm>
            <a:off x="1269950" y="3584227"/>
            <a:ext cx="2400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Personalized Pathways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971550" y="3984277"/>
            <a:ext cx="2997249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Integrates a smart </a:t>
            </a:r>
            <a:r>
              <a:rPr b="1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Career Path Selector</a:t>
            </a: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that classifies visitors as Students, Professionals, or Career Switchers, dynamically serving targeted program suggestions.</a:t>
            </a:r>
            <a:endParaRPr/>
          </a:p>
        </p:txBody>
      </p:sp>
      <p:pic>
        <p:nvPicPr>
          <p:cNvPr descr="image.png" id="183" name="Google Shape;183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86437" y="2793652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5080873" y="3584227"/>
            <a:ext cx="203025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Simplified Usability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4597449" y="3984277"/>
            <a:ext cx="2997249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Reorganizes navigation menus, creates predictive search bars with auto-complete, and clusters individual lessons into structured, milestone-based learning paths.</a:t>
            </a:r>
            <a:endParaRPr/>
          </a:p>
        </p:txBody>
      </p:sp>
      <p:pic>
        <p:nvPicPr>
          <p:cNvPr descr="image.png" id="186" name="Google Shape;186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12337" y="2793652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8916798" y="3584227"/>
            <a:ext cx="161020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Amplified Trust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8223349" y="3984277"/>
            <a:ext cx="2997249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Features learner reviews, mentor credentials, historical placement statistics, exit-intent offerings, and validation logos from prominent hiring partners directly on the homepage.</a:t>
            </a:r>
            <a:endParaRPr/>
          </a:p>
        </p:txBody>
      </p:sp>
      <p:pic>
        <p:nvPicPr>
          <p:cNvPr descr="image.png" id="189" name="Google Shape;189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279600" y="2950815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24550" y="2950815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569499" y="295081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 txBox="1"/>
          <p:nvPr/>
        </p:nvSpPr>
        <p:spPr>
          <a:xfrm>
            <a:off x="914400" y="581025"/>
            <a:ext cx="11031378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Proposed Website Redesign</a:t>
            </a:r>
            <a:endParaRPr/>
          </a:p>
        </p:txBody>
      </p:sp>
      <p:sp>
        <p:nvSpPr>
          <p:cNvPr id="193" name="Google Shape;193;p19"/>
          <p:cNvSpPr/>
          <p:nvPr/>
        </p:nvSpPr>
        <p:spPr>
          <a:xfrm>
            <a:off x="771525" y="581025"/>
            <a:ext cx="47625" cy="434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8" name="Google Shape;19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914400" y="581025"/>
            <a:ext cx="5440680" cy="86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Mobile-First Redesign Strategy</a:t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771525" y="581025"/>
            <a:ext cx="47625" cy="8685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1" name="Google Shape;20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771525" y="2967930"/>
            <a:ext cx="559069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Sub-3 Second Load Targets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771525" y="3415605"/>
            <a:ext cx="532447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To eliminate high bounce rates, we are transition from desktop scaling to a native </a:t>
            </a:r>
            <a:r>
              <a:rPr b="1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mobile-first architecture</a:t>
            </a: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771525" y="3958530"/>
            <a:ext cx="532447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Strategic engineering tasks include aggressive asset compression, code minification, lazy loading implementation, and robust Content Delivery Network (CDN) routing.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771525" y="4501455"/>
            <a:ext cx="532447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All core enrollment flows will be simplified to a single-screen, touch-friendly sequence to capture impulse mobile conversions.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 txBox="1"/>
          <p:nvPr/>
        </p:nvSpPr>
        <p:spPr>
          <a:xfrm>
            <a:off x="2000250" y="1983730"/>
            <a:ext cx="8620125" cy="776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On-Page Metadata Restructure: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Standardize a robust meta-tagging methodology. We will rewrite generic title tags to targeted formats (e.g., </a:t>
            </a:r>
            <a:r>
              <a:rPr b="0" i="1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"Digital Marketing Course | Elevate Learning"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) and insert highly persuasive meta descriptions containing localized intent keywords.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2000250" y="2951112"/>
            <a:ext cx="8620125" cy="776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The Content Cluster Framework: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Design high-authority 'Pillar Pages' centered on main curriculum offerings (e.g., Data Science, Digital Marketing). These are linked directly to supporting educational blog articles to systematically accumulate organic authority.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2000250" y="3918495"/>
            <a:ext cx="8620125" cy="776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Authoritative Link Building: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Publish targeted articles on high-authority channels like Medium, LinkedIn, and HubPages. Support this with trusted web directory submissions and active engagement in community hubs (Quora/Reddit) to grow domain rating.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2000250" y="4885878"/>
            <a:ext cx="8620125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Technical Diagnostics &amp; Markup: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Deploy detailed Schema Markups (Course, FAQ, Breadcrumb, and Review schema) to enable descriptive search results. Set clean, structured URLs and strictly manage sitemap/robots.txt configurations.</a:t>
            </a:r>
            <a:endParaRPr/>
          </a:p>
        </p:txBody>
      </p:sp>
      <p:pic>
        <p:nvPicPr>
          <p:cNvPr descr="image.png" id="215" name="Google Shape;21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1625" y="2007542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71625" y="2974925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71625" y="3942308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71625" y="4909691"/>
            <a:ext cx="2667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1"/>
          <p:cNvSpPr txBox="1"/>
          <p:nvPr/>
        </p:nvSpPr>
        <p:spPr>
          <a:xfrm>
            <a:off x="914400" y="581025"/>
            <a:ext cx="11031378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Strategic SEO Playbook</a:t>
            </a:r>
            <a:endParaRPr/>
          </a:p>
        </p:txBody>
      </p:sp>
      <p:sp>
        <p:nvSpPr>
          <p:cNvPr id="220" name="Google Shape;220;p21"/>
          <p:cNvSpPr/>
          <p:nvPr/>
        </p:nvSpPr>
        <p:spPr>
          <a:xfrm>
            <a:off x="771525" y="581025"/>
            <a:ext cx="47625" cy="434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498377"/>
            <a:ext cx="3397299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7424" y="2498377"/>
            <a:ext cx="3397299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23324" y="2498377"/>
            <a:ext cx="3397299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60537" y="2793652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2"/>
          <p:cNvSpPr txBox="1"/>
          <p:nvPr/>
        </p:nvSpPr>
        <p:spPr>
          <a:xfrm>
            <a:off x="1609992" y="3584227"/>
            <a:ext cx="172021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Paid Advertising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971550" y="3984277"/>
            <a:ext cx="2997249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Launches conversion-focused Google Search campaigns targeting high-intent long-tail keywords, coupled with engaging Meta visual and carousel remarketing campaigns.</a:t>
            </a:r>
            <a:endParaRPr/>
          </a:p>
        </p:txBody>
      </p:sp>
      <p:pic>
        <p:nvPicPr>
          <p:cNvPr descr="image.png" id="232" name="Google Shape;232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86437" y="2793652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2"/>
          <p:cNvSpPr txBox="1"/>
          <p:nvPr/>
        </p:nvSpPr>
        <p:spPr>
          <a:xfrm>
            <a:off x="4970859" y="3584227"/>
            <a:ext cx="225028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Automated Nurturing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4597449" y="3984277"/>
            <a:ext cx="2997249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Deploys event-based email drip workflows. This sequence guides leads from initial webinar registration to personalized course suggestions and enrollment incentives.</a:t>
            </a:r>
            <a:endParaRPr/>
          </a:p>
        </p:txBody>
      </p:sp>
      <p:pic>
        <p:nvPicPr>
          <p:cNvPr descr="image.png" id="235" name="Google Shape;235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12337" y="2793652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2"/>
          <p:cNvSpPr txBox="1"/>
          <p:nvPr/>
        </p:nvSpPr>
        <p:spPr>
          <a:xfrm>
            <a:off x="8696771" y="3584227"/>
            <a:ext cx="205025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Social Media Engine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8223349" y="3984277"/>
            <a:ext cx="2997249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Maintains a steady posting calendar on LinkedIn and Instagram. Focuses on educational concepts, placing student achievement videos and live mentor interviews front and center.</a:t>
            </a:r>
            <a:endParaRPr/>
          </a:p>
        </p:txBody>
      </p:sp>
      <p:pic>
        <p:nvPicPr>
          <p:cNvPr descr="image.png" id="238" name="Google Shape;238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317700" y="295081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43600" y="295081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588549" y="2950815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2"/>
          <p:cNvSpPr txBox="1"/>
          <p:nvPr/>
        </p:nvSpPr>
        <p:spPr>
          <a:xfrm>
            <a:off x="914400" y="581025"/>
            <a:ext cx="11031378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Multi-Channel Implementation</a:t>
            </a:r>
            <a:endParaRPr/>
          </a:p>
        </p:txBody>
      </p:sp>
      <p:sp>
        <p:nvSpPr>
          <p:cNvPr id="242" name="Google Shape;242;p22"/>
          <p:cNvSpPr/>
          <p:nvPr/>
        </p:nvSpPr>
        <p:spPr>
          <a:xfrm>
            <a:off x="771525" y="581025"/>
            <a:ext cx="47625" cy="434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7" name="Google Shape;24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3"/>
          <p:cNvSpPr/>
          <p:nvPr/>
        </p:nvSpPr>
        <p:spPr>
          <a:xfrm>
            <a:off x="771525" y="3841402"/>
            <a:ext cx="1064895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 txBox="1"/>
          <p:nvPr/>
        </p:nvSpPr>
        <p:spPr>
          <a:xfrm>
            <a:off x="710297" y="4098577"/>
            <a:ext cx="257157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97316"/>
                </a:solidFill>
                <a:latin typeface="Poppins"/>
                <a:ea typeface="Poppins"/>
                <a:cs typeface="Poppins"/>
                <a:sym typeface="Poppins"/>
              </a:rPr>
              <a:t>Weeks 1-2</a:t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771525" y="4412902"/>
            <a:ext cx="2449115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Research &amp; Audit: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Execute target persona mapping, deep competitor analysis, and detailed usability tests.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3443525" y="2561480"/>
            <a:ext cx="257157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97316"/>
                </a:solidFill>
                <a:latin typeface="Poppins"/>
                <a:ea typeface="Poppins"/>
                <a:cs typeface="Poppins"/>
                <a:sym typeface="Poppins"/>
              </a:rPr>
              <a:t>Weeks 3-4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3504753" y="2875805"/>
            <a:ext cx="2449115" cy="746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Design &amp; Wireframes: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Establish clean information architecture, responsive layouts, and unified typography guidelines.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6176754" y="4098577"/>
            <a:ext cx="257157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97316"/>
                </a:solidFill>
                <a:latin typeface="Poppins"/>
                <a:ea typeface="Poppins"/>
                <a:cs typeface="Poppins"/>
                <a:sym typeface="Poppins"/>
              </a:rPr>
              <a:t>Weeks 5-6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6237982" y="4412902"/>
            <a:ext cx="2449115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Development &amp; SEO: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Build core web pages, write targeted SEO metadata, and set up tracking events.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8909982" y="2748111"/>
            <a:ext cx="257157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97316"/>
                </a:solidFill>
                <a:latin typeface="Poppins"/>
                <a:ea typeface="Poppins"/>
                <a:cs typeface="Poppins"/>
                <a:sym typeface="Poppins"/>
              </a:rPr>
              <a:t>Weeks 7-10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8971210" y="3062436"/>
            <a:ext cx="2449115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QA &amp; Launch: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Execute speed optimizations, cross-device testing, and launch campaigns.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914400" y="581025"/>
            <a:ext cx="11031378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Implementation Timeline</a:t>
            </a:r>
            <a:endParaRPr/>
          </a:p>
        </p:txBody>
      </p:sp>
      <p:sp>
        <p:nvSpPr>
          <p:cNvPr id="258" name="Google Shape;258;p23"/>
          <p:cNvSpPr/>
          <p:nvPr/>
        </p:nvSpPr>
        <p:spPr>
          <a:xfrm>
            <a:off x="771525" y="581025"/>
            <a:ext cx="47625" cy="434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1919882" y="3784252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4653111" y="3784252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7386339" y="3784252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10119568" y="3784252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7" name="Google Shape;26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1301055"/>
            <a:ext cx="10648950" cy="497591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4"/>
          <p:cNvSpPr txBox="1"/>
          <p:nvPr/>
        </p:nvSpPr>
        <p:spPr>
          <a:xfrm>
            <a:off x="771525" y="4808190"/>
            <a:ext cx="10648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Total Proposed Monthly Marketing Budget: </a:t>
            </a:r>
            <a:r>
              <a:rPr b="1" i="1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₹1,20,000</a:t>
            </a:r>
            <a:r>
              <a:rPr b="0" i="1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Designed to support sustainable customer acquisition tracks.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914400" y="581025"/>
            <a:ext cx="11031378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Monthly Budget Allocation</a:t>
            </a:r>
            <a:endParaRPr/>
          </a:p>
        </p:txBody>
      </p:sp>
      <p:sp>
        <p:nvSpPr>
          <p:cNvPr id="271" name="Google Shape;271;p24"/>
          <p:cNvSpPr/>
          <p:nvPr/>
        </p:nvSpPr>
        <p:spPr>
          <a:xfrm>
            <a:off x="771525" y="581025"/>
            <a:ext cx="47625" cy="434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6" name="Google Shape;27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198340"/>
            <a:ext cx="10648950" cy="31813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8" name="Google Shape;278;p25"/>
          <p:cNvGraphicFramePr/>
          <p:nvPr/>
        </p:nvGraphicFramePr>
        <p:xfrm>
          <a:off x="781050" y="220786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{1797C7E5-CD8E-47DA-8027-4218B8BD215D}</a:tableStyleId>
              </a:tblPr>
              <a:tblGrid>
                <a:gridCol w="2787100"/>
                <a:gridCol w="1963350"/>
                <a:gridCol w="2775950"/>
                <a:gridCol w="3103500"/>
              </a:tblGrid>
              <a:tr h="45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Key Performance 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Current baseline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6-Month Redesign Target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Projected Change &amp; Impact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45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Monthly Organic Traffic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8,000 visitors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12,000 visitors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D948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+ 50.0% traffic acquisition scale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Total Website Traffic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20,000 visitors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30,000 visitors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D948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+ 50.0% visual footprint expansion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5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Monthly Lead Volume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500 inquiries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700 inquiries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D948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+ 40.0% pipeline generation boost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Course Enrollments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200 enrollments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300 enrollments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D948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+ 50.0% direct monetization lift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5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Average Website Bounce Rate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55% average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Below 40%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D948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- 15.0% bounce rate decrease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Conversion Rate (CRO)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2.5% rate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4.0% rate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D948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+ 60.0% processing efficiency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79" name="Google Shape;279;p25"/>
          <p:cNvSpPr/>
          <p:nvPr/>
        </p:nvSpPr>
        <p:spPr>
          <a:xfrm>
            <a:off x="781050" y="3127027"/>
            <a:ext cx="27871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5"/>
          <p:cNvSpPr/>
          <p:nvPr/>
        </p:nvSpPr>
        <p:spPr>
          <a:xfrm>
            <a:off x="3568154" y="3127027"/>
            <a:ext cx="196334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5"/>
          <p:cNvSpPr/>
          <p:nvPr/>
        </p:nvSpPr>
        <p:spPr>
          <a:xfrm>
            <a:off x="5531494" y="3127027"/>
            <a:ext cx="27759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5"/>
          <p:cNvSpPr/>
          <p:nvPr/>
        </p:nvSpPr>
        <p:spPr>
          <a:xfrm>
            <a:off x="8307437" y="3127027"/>
            <a:ext cx="31035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5"/>
          <p:cNvSpPr/>
          <p:nvPr/>
        </p:nvSpPr>
        <p:spPr>
          <a:xfrm>
            <a:off x="781050" y="3574702"/>
            <a:ext cx="27871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5"/>
          <p:cNvSpPr/>
          <p:nvPr/>
        </p:nvSpPr>
        <p:spPr>
          <a:xfrm>
            <a:off x="3568154" y="3574702"/>
            <a:ext cx="196334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/>
          <p:nvPr/>
        </p:nvSpPr>
        <p:spPr>
          <a:xfrm>
            <a:off x="5531494" y="3574702"/>
            <a:ext cx="27759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5"/>
          <p:cNvSpPr/>
          <p:nvPr/>
        </p:nvSpPr>
        <p:spPr>
          <a:xfrm>
            <a:off x="8307437" y="3574702"/>
            <a:ext cx="31035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5"/>
          <p:cNvSpPr/>
          <p:nvPr/>
        </p:nvSpPr>
        <p:spPr>
          <a:xfrm>
            <a:off x="781050" y="4022377"/>
            <a:ext cx="27871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5"/>
          <p:cNvSpPr/>
          <p:nvPr/>
        </p:nvSpPr>
        <p:spPr>
          <a:xfrm>
            <a:off x="3568154" y="4022377"/>
            <a:ext cx="196334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5"/>
          <p:cNvSpPr/>
          <p:nvPr/>
        </p:nvSpPr>
        <p:spPr>
          <a:xfrm>
            <a:off x="5531494" y="4022377"/>
            <a:ext cx="27759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5"/>
          <p:cNvSpPr/>
          <p:nvPr/>
        </p:nvSpPr>
        <p:spPr>
          <a:xfrm>
            <a:off x="8307437" y="4022377"/>
            <a:ext cx="31035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5"/>
          <p:cNvSpPr/>
          <p:nvPr/>
        </p:nvSpPr>
        <p:spPr>
          <a:xfrm>
            <a:off x="781050" y="4470052"/>
            <a:ext cx="27871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5"/>
          <p:cNvSpPr/>
          <p:nvPr/>
        </p:nvSpPr>
        <p:spPr>
          <a:xfrm>
            <a:off x="3568154" y="4470052"/>
            <a:ext cx="196334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5"/>
          <p:cNvSpPr/>
          <p:nvPr/>
        </p:nvSpPr>
        <p:spPr>
          <a:xfrm>
            <a:off x="5531494" y="4470052"/>
            <a:ext cx="27759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5"/>
          <p:cNvSpPr/>
          <p:nvPr/>
        </p:nvSpPr>
        <p:spPr>
          <a:xfrm>
            <a:off x="8307437" y="4470052"/>
            <a:ext cx="31035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5"/>
          <p:cNvSpPr/>
          <p:nvPr/>
        </p:nvSpPr>
        <p:spPr>
          <a:xfrm>
            <a:off x="781050" y="4917727"/>
            <a:ext cx="27871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5"/>
          <p:cNvSpPr/>
          <p:nvPr/>
        </p:nvSpPr>
        <p:spPr>
          <a:xfrm>
            <a:off x="3568154" y="4917727"/>
            <a:ext cx="196334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5"/>
          <p:cNvSpPr/>
          <p:nvPr/>
        </p:nvSpPr>
        <p:spPr>
          <a:xfrm>
            <a:off x="5531494" y="4917727"/>
            <a:ext cx="27759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5"/>
          <p:cNvSpPr/>
          <p:nvPr/>
        </p:nvSpPr>
        <p:spPr>
          <a:xfrm>
            <a:off x="8307437" y="4917727"/>
            <a:ext cx="31035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5"/>
          <p:cNvSpPr txBox="1"/>
          <p:nvPr/>
        </p:nvSpPr>
        <p:spPr>
          <a:xfrm>
            <a:off x="914400" y="581025"/>
            <a:ext cx="11031378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Core KPI Targets (6-Months)</a:t>
            </a:r>
            <a:endParaRPr/>
          </a:p>
        </p:txBody>
      </p:sp>
      <p:sp>
        <p:nvSpPr>
          <p:cNvPr id="300" name="Google Shape;300;p25"/>
          <p:cNvSpPr/>
          <p:nvPr/>
        </p:nvSpPr>
        <p:spPr>
          <a:xfrm>
            <a:off x="771525" y="581025"/>
            <a:ext cx="47625" cy="434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ank you slide" id="305" name="Google Shape;30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82700"/>
            <a:ext cx="12192000" cy="694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